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d74a7398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8d74a739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b9d1053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b9d1053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b9d10531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b9d1053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300">
                <a:solidFill>
                  <a:schemeClr val="dk1"/>
                </a:solidFill>
              </a:rPr>
              <a:t>Metodología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Trabajamos la base en </a:t>
            </a:r>
            <a:r>
              <a:rPr b="1" lang="es-419" sz="1100">
                <a:solidFill>
                  <a:schemeClr val="dk1"/>
                </a:solidFill>
              </a:rPr>
              <a:t>R</a:t>
            </a:r>
            <a:r>
              <a:rPr lang="es-419" sz="1100">
                <a:solidFill>
                  <a:schemeClr val="dk1"/>
                </a:solidFill>
              </a:rPr>
              <a:t>, donde limpiamos y organizamos los datos, seleccionamos las variables relevantes y agrupamos los registros por </a:t>
            </a:r>
            <a:r>
              <a:rPr b="1" lang="es-419" sz="1100">
                <a:solidFill>
                  <a:schemeClr val="dk1"/>
                </a:solidFill>
              </a:rPr>
              <a:t>año (desde 2013 hasta 2023) y turno (mañana o tarde)</a:t>
            </a:r>
            <a:r>
              <a:rPr lang="es-419" sz="1100">
                <a:solidFill>
                  <a:schemeClr val="dk1"/>
                </a:solidFill>
              </a:rPr>
              <a:t>. Luego calculamos los promedios y utilizamos </a:t>
            </a:r>
            <a:r>
              <a:rPr b="1" lang="es-419" sz="1100">
                <a:solidFill>
                  <a:schemeClr val="dk1"/>
                </a:solidFill>
              </a:rPr>
              <a:t>ggplot2</a:t>
            </a:r>
            <a:r>
              <a:rPr lang="es-419" sz="1100">
                <a:solidFill>
                  <a:schemeClr val="dk1"/>
                </a:solidFill>
              </a:rPr>
              <a:t> para construir el gráfico y visualizar la evolución del ciclismo en CABA.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300">
                <a:solidFill>
                  <a:schemeClr val="dk1"/>
                </a:solidFill>
              </a:rPr>
              <a:t>Resultados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El uso de la bicicleta alcanza un </a:t>
            </a:r>
            <a:r>
              <a:rPr b="1" lang="es-419" sz="1100">
                <a:solidFill>
                  <a:schemeClr val="dk1"/>
                </a:solidFill>
              </a:rPr>
              <a:t>máximo en 2020</a:t>
            </a:r>
            <a:r>
              <a:rPr lang="es-419" sz="1100">
                <a:solidFill>
                  <a:schemeClr val="dk1"/>
                </a:solidFill>
              </a:rPr>
              <a:t>, con un aumento de los viajes diarios de </a:t>
            </a:r>
            <a:r>
              <a:rPr b="1" lang="es-419" sz="1100">
                <a:solidFill>
                  <a:schemeClr val="dk1"/>
                </a:solidFill>
              </a:rPr>
              <a:t>316 mil a 405 mil (+28%)</a:t>
            </a:r>
            <a:r>
              <a:rPr lang="es-419" sz="1100">
                <a:solidFill>
                  <a:schemeClr val="dk1"/>
                </a:solidFill>
              </a:rPr>
              <a:t> respecto de 2019. Luego, el volumen disminuye progresivamente hasta </a:t>
            </a:r>
            <a:r>
              <a:rPr b="1" lang="es-419" sz="1100">
                <a:solidFill>
                  <a:schemeClr val="dk1"/>
                </a:solidFill>
              </a:rPr>
              <a:t>281 mil viajes en 2023</a:t>
            </a:r>
            <a:r>
              <a:rPr lang="es-419" sz="1100">
                <a:solidFill>
                  <a:schemeClr val="dk1"/>
                </a:solidFill>
              </a:rPr>
              <a:t>. La pandemia generó así un </a:t>
            </a:r>
            <a:r>
              <a:rPr b="1" lang="es-419" sz="1100">
                <a:solidFill>
                  <a:schemeClr val="dk1"/>
                </a:solidFill>
              </a:rPr>
              <a:t>pico excepcional y transitorio</a:t>
            </a:r>
            <a:r>
              <a:rPr lang="es-419" sz="1100">
                <a:solidFill>
                  <a:schemeClr val="dk1"/>
                </a:solidFill>
              </a:rPr>
              <a:t>, pero sobre una tendencia previa de crecimiento: en 2023 los viajes seguían siendo </a:t>
            </a:r>
            <a:r>
              <a:rPr b="1" lang="es-419" sz="1100">
                <a:solidFill>
                  <a:schemeClr val="dk1"/>
                </a:solidFill>
              </a:rPr>
              <a:t>63% superiores a los de 2013</a:t>
            </a:r>
            <a:r>
              <a:rPr lang="es-419" sz="1100">
                <a:solidFill>
                  <a:schemeClr val="dk1"/>
                </a:solidFill>
              </a:rPr>
              <a:t>. Al contrario de nuestras expectativas, la pandemia fue un fuerte punto de inflexión marcado para la actividad, especialmente en el horario de la tarde tras las horas laborales usuales.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0"/>
            <a:ext cx="9144001" cy="5133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588" y="768050"/>
            <a:ext cx="6686825" cy="380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4"/>
            <a:ext cx="9144000" cy="514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